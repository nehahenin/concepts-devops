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70" r:id="rId6"/>
    <p:sldId id="260" r:id="rId7"/>
    <p:sldId id="271" r:id="rId8"/>
    <p:sldId id="272" r:id="rId9"/>
    <p:sldId id="273" r:id="rId10"/>
    <p:sldId id="276" r:id="rId11"/>
    <p:sldId id="275" r:id="rId12"/>
    <p:sldId id="274" r:id="rId13"/>
    <p:sldId id="267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32" y="30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Henin" userId="e9b7af8b853c90ff" providerId="LiveId" clId="{19E8901E-9BC3-49DD-8136-16FD286E0281}"/>
    <pc:docChg chg="undo custSel modSld">
      <pc:chgData name="Neha Henin" userId="e9b7af8b853c90ff" providerId="LiveId" clId="{19E8901E-9BC3-49DD-8136-16FD286E0281}" dt="2025-05-29T08:42:57.341" v="80" actId="1036"/>
      <pc:docMkLst>
        <pc:docMk/>
      </pc:docMkLst>
      <pc:sldChg chg="modSp mod">
        <pc:chgData name="Neha Henin" userId="e9b7af8b853c90ff" providerId="LiveId" clId="{19E8901E-9BC3-49DD-8136-16FD286E0281}" dt="2025-05-29T08:40:53.963" v="57" actId="255"/>
        <pc:sldMkLst>
          <pc:docMk/>
          <pc:sldMk cId="0" sldId="256"/>
        </pc:sldMkLst>
        <pc:spChg chg="mod">
          <ac:chgData name="Neha Henin" userId="e9b7af8b853c90ff" providerId="LiveId" clId="{19E8901E-9BC3-49DD-8136-16FD286E0281}" dt="2025-05-29T08:40:27.267" v="55" actId="1076"/>
          <ac:spMkLst>
            <pc:docMk/>
            <pc:sldMk cId="0" sldId="256"/>
            <ac:spMk id="54" creationId="{00000000-0000-0000-0000-000000000000}"/>
          </ac:spMkLst>
        </pc:spChg>
        <pc:spChg chg="mod">
          <ac:chgData name="Neha Henin" userId="e9b7af8b853c90ff" providerId="LiveId" clId="{19E8901E-9BC3-49DD-8136-16FD286E0281}" dt="2025-05-29T08:40:53.963" v="57" actId="255"/>
          <ac:spMkLst>
            <pc:docMk/>
            <pc:sldMk cId="0" sldId="256"/>
            <ac:spMk id="56" creationId="{00000000-0000-0000-0000-000000000000}"/>
          </ac:spMkLst>
        </pc:spChg>
        <pc:spChg chg="mod">
          <ac:chgData name="Neha Henin" userId="e9b7af8b853c90ff" providerId="LiveId" clId="{19E8901E-9BC3-49DD-8136-16FD286E0281}" dt="2025-05-29T08:39:21.076" v="39" actId="20577"/>
          <ac:spMkLst>
            <pc:docMk/>
            <pc:sldMk cId="0" sldId="256"/>
            <ac:spMk id="57" creationId="{00000000-0000-0000-0000-000000000000}"/>
          </ac:spMkLst>
        </pc:spChg>
      </pc:sldChg>
      <pc:sldChg chg="modSp mod">
        <pc:chgData name="Neha Henin" userId="e9b7af8b853c90ff" providerId="LiveId" clId="{19E8901E-9BC3-49DD-8136-16FD286E0281}" dt="2025-05-29T08:41:33.988" v="77" actId="20577"/>
        <pc:sldMkLst>
          <pc:docMk/>
          <pc:sldMk cId="0" sldId="257"/>
        </pc:sldMkLst>
        <pc:spChg chg="mod">
          <ac:chgData name="Neha Henin" userId="e9b7af8b853c90ff" providerId="LiveId" clId="{19E8901E-9BC3-49DD-8136-16FD286E0281}" dt="2025-05-29T08:41:33.988" v="77" actId="20577"/>
          <ac:spMkLst>
            <pc:docMk/>
            <pc:sldMk cId="0" sldId="257"/>
            <ac:spMk id="6" creationId="{D66838E7-DF8B-441F-A7FD-CF7E2EA15593}"/>
          </ac:spMkLst>
        </pc:spChg>
      </pc:sldChg>
      <pc:sldChg chg="modSp mod">
        <pc:chgData name="Neha Henin" userId="e9b7af8b853c90ff" providerId="LiveId" clId="{19E8901E-9BC3-49DD-8136-16FD286E0281}" dt="2025-05-29T08:42:57.341" v="80" actId="1036"/>
        <pc:sldMkLst>
          <pc:docMk/>
          <pc:sldMk cId="1260684421" sldId="271"/>
        </pc:sldMkLst>
        <pc:spChg chg="mod">
          <ac:chgData name="Neha Henin" userId="e9b7af8b853c90ff" providerId="LiveId" clId="{19E8901E-9BC3-49DD-8136-16FD286E0281}" dt="2025-05-29T08:42:55.347" v="79" actId="255"/>
          <ac:spMkLst>
            <pc:docMk/>
            <pc:sldMk cId="1260684421" sldId="271"/>
            <ac:spMk id="3" creationId="{B6C2F8B7-DDB0-6A00-9624-23DFF840D42F}"/>
          </ac:spMkLst>
        </pc:spChg>
        <pc:spChg chg="mod">
          <ac:chgData name="Neha Henin" userId="e9b7af8b853c90ff" providerId="LiveId" clId="{19E8901E-9BC3-49DD-8136-16FD286E0281}" dt="2025-05-29T08:42:57.341" v="80" actId="1036"/>
          <ac:spMkLst>
            <pc:docMk/>
            <pc:sldMk cId="1260684421" sldId="271"/>
            <ac:spMk id="87" creationId="{E2378384-79A2-5ED3-5679-D5A08631ED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631604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6188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fd1057461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fd1057461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4853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057461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057461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1318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d1057461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d1057461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6061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92F19558-3BD6-BA35-EC5C-A690ABD8E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d1057461b_0_30:notes">
            <a:extLst>
              <a:ext uri="{FF2B5EF4-FFF2-40B4-BE49-F238E27FC236}">
                <a16:creationId xmlns:a16="http://schemas.microsoft.com/office/drawing/2014/main" id="{21FA06F8-6EEF-D500-A8F3-AB35DC36AE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d1057461b_0_30:notes">
            <a:extLst>
              <a:ext uri="{FF2B5EF4-FFF2-40B4-BE49-F238E27FC236}">
                <a16:creationId xmlns:a16="http://schemas.microsoft.com/office/drawing/2014/main" id="{6C10FC27-42B0-D01C-9BE8-6807325FF0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859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695AB3A0-C980-0B31-9A4C-3BA207B09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d1057461b_0_30:notes">
            <a:extLst>
              <a:ext uri="{FF2B5EF4-FFF2-40B4-BE49-F238E27FC236}">
                <a16:creationId xmlns:a16="http://schemas.microsoft.com/office/drawing/2014/main" id="{C4116D13-716A-C34F-269D-49EABCE56B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d1057461b_0_30:notes">
            <a:extLst>
              <a:ext uri="{FF2B5EF4-FFF2-40B4-BE49-F238E27FC236}">
                <a16:creationId xmlns:a16="http://schemas.microsoft.com/office/drawing/2014/main" id="{175A7A42-49E4-2921-0066-0D447CA14A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6554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55FFF9D3-B447-C524-D27F-C73D1933B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d1057461b_0_30:notes">
            <a:extLst>
              <a:ext uri="{FF2B5EF4-FFF2-40B4-BE49-F238E27FC236}">
                <a16:creationId xmlns:a16="http://schemas.microsoft.com/office/drawing/2014/main" id="{7B41141A-982E-85D9-C6F3-5EDEC824D2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d1057461b_0_30:notes">
            <a:extLst>
              <a:ext uri="{FF2B5EF4-FFF2-40B4-BE49-F238E27FC236}">
                <a16:creationId xmlns:a16="http://schemas.microsoft.com/office/drawing/2014/main" id="{7A52771E-6882-8313-C0FC-887EA19CDC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4764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9004D960-88D1-C9ED-3F73-15D4AF7A7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d1057461b_0_30:notes">
            <a:extLst>
              <a:ext uri="{FF2B5EF4-FFF2-40B4-BE49-F238E27FC236}">
                <a16:creationId xmlns:a16="http://schemas.microsoft.com/office/drawing/2014/main" id="{2055489E-FA00-0298-259A-C8448F0B56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d1057461b_0_30:notes">
            <a:extLst>
              <a:ext uri="{FF2B5EF4-FFF2-40B4-BE49-F238E27FC236}">
                <a16:creationId xmlns:a16="http://schemas.microsoft.com/office/drawing/2014/main" id="{00E0011E-2A9A-4AF3-C3CC-3E0AC2D742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1965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34ABC11A-F02F-AD0C-80E1-35A5D741C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d1057461b_0_30:notes">
            <a:extLst>
              <a:ext uri="{FF2B5EF4-FFF2-40B4-BE49-F238E27FC236}">
                <a16:creationId xmlns:a16="http://schemas.microsoft.com/office/drawing/2014/main" id="{3B6AE86E-EC05-0ADE-38D1-CC9F50F88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d1057461b_0_30:notes">
            <a:extLst>
              <a:ext uri="{FF2B5EF4-FFF2-40B4-BE49-F238E27FC236}">
                <a16:creationId xmlns:a16="http://schemas.microsoft.com/office/drawing/2014/main" id="{397E569C-BCBC-25D4-A2B5-E4E7B16EF7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3536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D507F101-3DDD-F138-4F34-0CD38E54D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d1057461b_0_30:notes">
            <a:extLst>
              <a:ext uri="{FF2B5EF4-FFF2-40B4-BE49-F238E27FC236}">
                <a16:creationId xmlns:a16="http://schemas.microsoft.com/office/drawing/2014/main" id="{CB7C772E-D234-82F2-965C-E3E1FCE8F8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d1057461b_0_30:notes">
            <a:extLst>
              <a:ext uri="{FF2B5EF4-FFF2-40B4-BE49-F238E27FC236}">
                <a16:creationId xmlns:a16="http://schemas.microsoft.com/office/drawing/2014/main" id="{5608B55F-CB39-86FF-AFF4-C854721ACC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344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d1057461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d1057461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3244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948959"/>
            <a:ext cx="85206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buNone/>
            </a:pPr>
            <a:endParaRPr lang="en-US" sz="3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PAY ROLL MANAGEMENT SYSTEM </a:t>
            </a:r>
            <a:endParaRPr lang="en-IN" sz="3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47" y="97725"/>
            <a:ext cx="4307305" cy="135808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424499" y="4066268"/>
            <a:ext cx="5871808" cy="7386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NEHA HENIN J &amp; 23038117104822025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439652" y="3604633"/>
            <a:ext cx="470434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Bef>
                <a:spcPct val="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		</a:t>
            </a: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39713" y="216571"/>
            <a:ext cx="79974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249400" y="1324850"/>
            <a:ext cx="7939500" cy="25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US" sz="2400" b="1"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" sz="2400" b="1"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endParaRPr sz="2400" b="1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endParaRPr sz="2400" b="1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tx1"/>
                </a:solidFill>
              </a:rPr>
              <a:t>PRESENTATION OVERVIEW</a:t>
            </a:r>
            <a:endParaRPr sz="24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D66838E7-DF8B-441F-A7FD-CF7E2EA15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310" y="916341"/>
            <a:ext cx="7758137" cy="427264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/>
                <a:cs typeface="WenQuanYi Micro Hei"/>
              </a:defRPr>
            </a:lvl1pPr>
            <a:lvl2pPr indent="-284163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/>
                <a:cs typeface="WenQuanYi Micro Hei"/>
              </a:defRPr>
            </a:lvl2pPr>
            <a:lvl3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/>
                <a:cs typeface="WenQuanYi Micro Hei"/>
              </a:defRPr>
            </a:lvl3pPr>
            <a:lvl4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/>
                <a:cs typeface="WenQuanYi Micro Hei"/>
              </a:defRPr>
            </a:lvl4pPr>
            <a:lvl5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/>
                <a:cs typeface="WenQuanYi Micro Hei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/>
                <a:cs typeface="WenQuanYi Micro Hei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/>
                <a:cs typeface="WenQuanYi Micro Hei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/>
                <a:cs typeface="WenQuanYi Micro Hei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/>
                <a:cs typeface="WenQuanYi Micro Hei"/>
              </a:defRPr>
            </a:lvl9pPr>
          </a:lstStyle>
          <a:p>
            <a:pPr marL="344487" indent="-342900" algn="just" eaLnBrk="1" hangingPunct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and analysis</a:t>
            </a:r>
          </a:p>
          <a:p>
            <a:pPr marL="344487" indent="-342900" algn="just" eaLnBrk="1" hangingPunct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344487" indent="-342900" algn="just" eaLnBrk="1" hangingPunct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 marL="344487" indent="-342900" algn="just" eaLnBrk="1" hangingPunct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code</a:t>
            </a:r>
          </a:p>
          <a:p>
            <a:pPr marL="344487" indent="-342900" algn="just" eaLnBrk="1" hangingPunct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1587" indent="0" algn="just" eaLnBrk="1" hangingPunct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defRPr/>
            </a:pPr>
            <a:endParaRPr lang="en-US" sz="2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94" y="248804"/>
            <a:ext cx="8520600" cy="651642"/>
          </a:xfrm>
        </p:spPr>
        <p:txBody>
          <a:bodyPr>
            <a:normAutofit/>
          </a:bodyPr>
          <a:lstStyle/>
          <a:p>
            <a:pPr algn="ctr">
              <a:buClr>
                <a:srgbClr val="000000"/>
              </a:buClr>
            </a:pPr>
            <a:r>
              <a:rPr lang="en-US" sz="2400" b="1" dirty="0">
                <a:solidFill>
                  <a:schemeClr val="tx1"/>
                </a:solidFill>
              </a:rPr>
              <a:t>PROJECT DESCRIPTION AND ANALYSIS</a:t>
            </a:r>
          </a:p>
        </p:txBody>
      </p:sp>
      <p:pic>
        <p:nvPicPr>
          <p:cNvPr id="4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5100" y="138051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7545" y="138051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Rectangle 14">
            <a:extLst>
              <a:ext uri="{FF2B5EF4-FFF2-40B4-BE49-F238E27FC236}">
                <a16:creationId xmlns:a16="http://schemas.microsoft.com/office/drawing/2014/main" id="{ADA8EF4A-7864-9547-47AC-10FF62792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790" y="1011199"/>
            <a:ext cx="6796419" cy="3660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Automates Payroll Processing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	Eliminates the need for manual salary calculations and record-keeping.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Comprehensive Employee Management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Stores employee details, salary structures, and job roles.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Accurate Salary Computation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Calculates gross salary, deductions, bonuses, and net salary.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Tax and Compliance Handling</a:t>
            </a:r>
            <a:endParaRPr lang="en-US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Ensures compliance with tax regulations and legal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Leave ad Attendance Tracking</a:t>
            </a:r>
            <a:endParaRPr lang="en-US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	Integrates attendance data for precise payroll calculations.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Pay Slip Generation</a:t>
            </a:r>
            <a:endParaRPr lang="en-US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	Creates detailed pay slips with salary breakdown and deductions.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" y="76397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29" y="76403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177000" y="284692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tx1"/>
                </a:solidFill>
              </a:rPr>
              <a:t>PROJECT DESCRIPTION AND ANALYSIS</a:t>
            </a:r>
            <a:endParaRPr sz="24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70CFA9-4F62-9602-279C-B4CE657AABD3}"/>
              </a:ext>
            </a:extLst>
          </p:cNvPr>
          <p:cNvSpPr txBox="1"/>
          <p:nvPr/>
        </p:nvSpPr>
        <p:spPr>
          <a:xfrm flipV="1">
            <a:off x="1538868" y="3385857"/>
            <a:ext cx="4334105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419442E-6B5B-6CDE-835B-5C93086EA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227" y="932787"/>
            <a:ext cx="7997772" cy="4075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Multi-Level Access Control</a:t>
            </a:r>
            <a:endParaRPr lang="en-US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Restricts data access based on user roles (HR, Admin, Employee).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 Data Storage</a:t>
            </a:r>
            <a:endParaRPr lang="en-US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Ensures payroll data is securely stored and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encrypted. 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User-Friendly Interface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ease of use by HR and payroll teams.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Audit and Record Maintenance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Maintains historical payroll records for audits and compliance checks.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Cost-Effective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Reduces administrative costs associated with payroll management.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Updates: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Updates employee records and salary structures dynamically..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3400" y="47127"/>
            <a:ext cx="8520600" cy="672662"/>
          </a:xfrm>
        </p:spPr>
        <p:txBody>
          <a:bodyPr>
            <a:normAutofit/>
          </a:bodyPr>
          <a:lstStyle/>
          <a:p>
            <a:r>
              <a:rPr lang="en-US" dirty="0"/>
              <a:t>		 </a:t>
            </a:r>
            <a:r>
              <a:rPr lang="en-US" sz="2400" b="1" dirty="0">
                <a:solidFill>
                  <a:schemeClr val="tx1"/>
                </a:solidFill>
              </a:rPr>
              <a:t>ARCHITECTURE DIAGRAM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4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5009" y="-2297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39830" y="0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4BD4AB1-F8F0-EC57-C719-9DA1603A83C3}"/>
              </a:ext>
            </a:extLst>
          </p:cNvPr>
          <p:cNvSpPr/>
          <p:nvPr/>
        </p:nvSpPr>
        <p:spPr>
          <a:xfrm>
            <a:off x="2123290" y="989145"/>
            <a:ext cx="1224935" cy="765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User Interface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D17D8E5-0008-9788-E256-9EF6811B726B}"/>
              </a:ext>
            </a:extLst>
          </p:cNvPr>
          <p:cNvSpPr/>
          <p:nvPr/>
        </p:nvSpPr>
        <p:spPr>
          <a:xfrm>
            <a:off x="237487" y="1020866"/>
            <a:ext cx="1224935" cy="7657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486B7F-E1FD-4B4D-3091-7247BF0EF790}"/>
              </a:ext>
            </a:extLst>
          </p:cNvPr>
          <p:cNvSpPr/>
          <p:nvPr/>
        </p:nvSpPr>
        <p:spPr>
          <a:xfrm>
            <a:off x="1890330" y="2337979"/>
            <a:ext cx="1373790" cy="5838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00"/>
                </a:solidFill>
              </a:rPr>
              <a:t>Employee Management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83B0C2-C677-0FAA-985B-9CE76FE07281}"/>
              </a:ext>
            </a:extLst>
          </p:cNvPr>
          <p:cNvSpPr/>
          <p:nvPr/>
        </p:nvSpPr>
        <p:spPr>
          <a:xfrm>
            <a:off x="5560235" y="3190104"/>
            <a:ext cx="1366569" cy="8433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Attendance &amp; Leave Tracking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14A7007-143D-0AE3-1E7D-100D66DCB653}"/>
              </a:ext>
            </a:extLst>
          </p:cNvPr>
          <p:cNvSpPr/>
          <p:nvPr/>
        </p:nvSpPr>
        <p:spPr>
          <a:xfrm>
            <a:off x="4128719" y="2270656"/>
            <a:ext cx="1366568" cy="8391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00"/>
                </a:solidFill>
              </a:rPr>
              <a:t>Salary Computation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D81FF0-DC05-37DF-4F20-6868F05E56D6}"/>
              </a:ext>
            </a:extLst>
          </p:cNvPr>
          <p:cNvSpPr/>
          <p:nvPr/>
        </p:nvSpPr>
        <p:spPr>
          <a:xfrm>
            <a:off x="4291086" y="989146"/>
            <a:ext cx="1224935" cy="765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dirty="0">
                <a:solidFill>
                  <a:schemeClr val="tx1"/>
                </a:solidFill>
              </a:rPr>
              <a:t>Business Logic 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F340A5-E95E-D1A0-CC0A-B11F6AD01912}"/>
              </a:ext>
            </a:extLst>
          </p:cNvPr>
          <p:cNvSpPr/>
          <p:nvPr/>
        </p:nvSpPr>
        <p:spPr>
          <a:xfrm>
            <a:off x="6200171" y="798366"/>
            <a:ext cx="1488795" cy="839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Database Management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FEFEA3-08F5-4E5C-56AF-E422BFFC4DC5}"/>
              </a:ext>
            </a:extLst>
          </p:cNvPr>
          <p:cNvSpPr/>
          <p:nvPr/>
        </p:nvSpPr>
        <p:spPr>
          <a:xfrm>
            <a:off x="7839865" y="2634620"/>
            <a:ext cx="1224935" cy="765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External Interfaces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1A45D3-3A95-483C-A5C8-FA755C91AED2}"/>
              </a:ext>
            </a:extLst>
          </p:cNvPr>
          <p:cNvSpPr/>
          <p:nvPr/>
        </p:nvSpPr>
        <p:spPr>
          <a:xfrm>
            <a:off x="201552" y="3133009"/>
            <a:ext cx="1296803" cy="765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Report &amp; Analytics Module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7110DAA-8217-F727-DA1D-4C497CF67407}"/>
              </a:ext>
            </a:extLst>
          </p:cNvPr>
          <p:cNvSpPr/>
          <p:nvPr/>
        </p:nvSpPr>
        <p:spPr>
          <a:xfrm>
            <a:off x="4370662" y="4279523"/>
            <a:ext cx="1366568" cy="8391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10000"/>
                  </a:schemeClr>
                </a:solidFill>
              </a:rPr>
              <a:t>Pay Slip Generation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7FDFC13-8409-63DD-99EA-5296DE062365}"/>
              </a:ext>
            </a:extLst>
          </p:cNvPr>
          <p:cNvSpPr/>
          <p:nvPr/>
        </p:nvSpPr>
        <p:spPr>
          <a:xfrm>
            <a:off x="2320033" y="3478361"/>
            <a:ext cx="1937753" cy="9690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Stores employee details (name, ID, department, salary structure).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ADBBFC-C5F4-4156-A820-CA3A613131E7}"/>
              </a:ext>
            </a:extLst>
          </p:cNvPr>
          <p:cNvSpPr/>
          <p:nvPr/>
        </p:nvSpPr>
        <p:spPr>
          <a:xfrm>
            <a:off x="6322398" y="2178348"/>
            <a:ext cx="1366568" cy="8391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FF00"/>
                </a:solidFill>
              </a:rPr>
              <a:t>Tax</a:t>
            </a:r>
            <a:r>
              <a:rPr lang="en-IN" dirty="0"/>
              <a:t> </a:t>
            </a:r>
            <a:r>
              <a:rPr lang="en-IN" dirty="0">
                <a:solidFill>
                  <a:srgbClr val="FFFF00"/>
                </a:solidFill>
              </a:rPr>
              <a:t>&amp;</a:t>
            </a:r>
            <a:r>
              <a:rPr lang="en-IN" dirty="0"/>
              <a:t> </a:t>
            </a:r>
            <a:r>
              <a:rPr lang="en-IN" dirty="0">
                <a:solidFill>
                  <a:srgbClr val="FFFF00"/>
                </a:solidFill>
              </a:rPr>
              <a:t>Compliance</a:t>
            </a:r>
            <a:r>
              <a:rPr lang="en-IN" dirty="0"/>
              <a:t> </a:t>
            </a:r>
            <a:r>
              <a:rPr lang="en-IN" dirty="0">
                <a:solidFill>
                  <a:srgbClr val="FFFF00"/>
                </a:solidFill>
              </a:rPr>
              <a:t>Management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1759FD-45ED-536D-7DF6-31B7A209635A}"/>
              </a:ext>
            </a:extLst>
          </p:cNvPr>
          <p:cNvSpPr/>
          <p:nvPr/>
        </p:nvSpPr>
        <p:spPr>
          <a:xfrm>
            <a:off x="6698512" y="4105191"/>
            <a:ext cx="2445488" cy="8896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Automates salary calculation based on attendance, deductions, and bonuses.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DD4629-C21A-07C0-EF41-D2F20806D36C}"/>
              </a:ext>
            </a:extLst>
          </p:cNvPr>
          <p:cNvSpPr/>
          <p:nvPr/>
        </p:nvSpPr>
        <p:spPr>
          <a:xfrm>
            <a:off x="171804" y="4420262"/>
            <a:ext cx="2063564" cy="6419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10000"/>
                  </a:schemeClr>
                </a:solidFill>
              </a:rPr>
              <a:t>STOP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041E75C-14E9-E25C-9A6B-252B32F79EE2}"/>
              </a:ext>
            </a:extLst>
          </p:cNvPr>
          <p:cNvSpPr/>
          <p:nvPr/>
        </p:nvSpPr>
        <p:spPr>
          <a:xfrm>
            <a:off x="1573556" y="1246889"/>
            <a:ext cx="438600" cy="1913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Left-Up 24">
            <a:extLst>
              <a:ext uri="{FF2B5EF4-FFF2-40B4-BE49-F238E27FC236}">
                <a16:creationId xmlns:a16="http://schemas.microsoft.com/office/drawing/2014/main" id="{EDAB840C-B0A3-CCD5-0A3B-08C1107D37AD}"/>
              </a:ext>
            </a:extLst>
          </p:cNvPr>
          <p:cNvSpPr/>
          <p:nvPr/>
        </p:nvSpPr>
        <p:spPr>
          <a:xfrm flipH="1" flipV="1">
            <a:off x="811951" y="2409417"/>
            <a:ext cx="936632" cy="552286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DD44E4E7-6187-681B-18CA-45972D292C55}"/>
              </a:ext>
            </a:extLst>
          </p:cNvPr>
          <p:cNvSpPr/>
          <p:nvPr/>
        </p:nvSpPr>
        <p:spPr>
          <a:xfrm>
            <a:off x="3613621" y="1224466"/>
            <a:ext cx="438600" cy="1913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C7C1608-7639-3C91-2EA6-40D92AFD636F}"/>
              </a:ext>
            </a:extLst>
          </p:cNvPr>
          <p:cNvSpPr/>
          <p:nvPr/>
        </p:nvSpPr>
        <p:spPr>
          <a:xfrm>
            <a:off x="5669753" y="1116892"/>
            <a:ext cx="438600" cy="1913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Bent-Up 28">
            <a:extLst>
              <a:ext uri="{FF2B5EF4-FFF2-40B4-BE49-F238E27FC236}">
                <a16:creationId xmlns:a16="http://schemas.microsoft.com/office/drawing/2014/main" id="{3A4CCF20-1C2C-47BA-1147-4027ED6E35D7}"/>
              </a:ext>
            </a:extLst>
          </p:cNvPr>
          <p:cNvSpPr/>
          <p:nvPr/>
        </p:nvSpPr>
        <p:spPr>
          <a:xfrm flipV="1">
            <a:off x="7819300" y="1224466"/>
            <a:ext cx="824970" cy="134728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23C13F3F-7B11-64E1-0862-419D7039B448}"/>
              </a:ext>
            </a:extLst>
          </p:cNvPr>
          <p:cNvSpPr/>
          <p:nvPr/>
        </p:nvSpPr>
        <p:spPr>
          <a:xfrm>
            <a:off x="6886130" y="1665768"/>
            <a:ext cx="209708" cy="4018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B751AB2E-189E-BAC4-7AA7-4C5567DFE804}"/>
              </a:ext>
            </a:extLst>
          </p:cNvPr>
          <p:cNvSpPr/>
          <p:nvPr/>
        </p:nvSpPr>
        <p:spPr>
          <a:xfrm>
            <a:off x="8395552" y="3472034"/>
            <a:ext cx="248718" cy="4908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9839564B-AA45-8B59-1157-73AF7C943EE5}"/>
              </a:ext>
            </a:extLst>
          </p:cNvPr>
          <p:cNvSpPr/>
          <p:nvPr/>
        </p:nvSpPr>
        <p:spPr>
          <a:xfrm>
            <a:off x="5947550" y="4471587"/>
            <a:ext cx="594288" cy="34382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48AF424F-45D0-91AA-4C9D-8AE71F801B97}"/>
              </a:ext>
            </a:extLst>
          </p:cNvPr>
          <p:cNvSpPr/>
          <p:nvPr/>
        </p:nvSpPr>
        <p:spPr>
          <a:xfrm>
            <a:off x="4778846" y="1826712"/>
            <a:ext cx="209708" cy="4018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7E19F4F0-71ED-EBA1-C9CD-EA09843EF4C4}"/>
              </a:ext>
            </a:extLst>
          </p:cNvPr>
          <p:cNvSpPr/>
          <p:nvPr/>
        </p:nvSpPr>
        <p:spPr>
          <a:xfrm>
            <a:off x="2751941" y="1826712"/>
            <a:ext cx="209708" cy="4018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22941451-5F2A-C729-4418-4ABFE32E6766}"/>
              </a:ext>
            </a:extLst>
          </p:cNvPr>
          <p:cNvSpPr/>
          <p:nvPr/>
        </p:nvSpPr>
        <p:spPr>
          <a:xfrm>
            <a:off x="2961649" y="3020142"/>
            <a:ext cx="209708" cy="4018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Left-Right 36">
            <a:extLst>
              <a:ext uri="{FF2B5EF4-FFF2-40B4-BE49-F238E27FC236}">
                <a16:creationId xmlns:a16="http://schemas.microsoft.com/office/drawing/2014/main" id="{C67D02A0-4A12-486F-31E9-71D1E2413898}"/>
              </a:ext>
            </a:extLst>
          </p:cNvPr>
          <p:cNvSpPr/>
          <p:nvPr/>
        </p:nvSpPr>
        <p:spPr>
          <a:xfrm>
            <a:off x="5548073" y="2476922"/>
            <a:ext cx="709158" cy="29950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Arrow: Quad 40">
            <a:extLst>
              <a:ext uri="{FF2B5EF4-FFF2-40B4-BE49-F238E27FC236}">
                <a16:creationId xmlns:a16="http://schemas.microsoft.com/office/drawing/2014/main" id="{C7ED2882-1CAD-2337-5014-2A80FC6D2514}"/>
              </a:ext>
            </a:extLst>
          </p:cNvPr>
          <p:cNvSpPr/>
          <p:nvPr/>
        </p:nvSpPr>
        <p:spPr>
          <a:xfrm>
            <a:off x="4384253" y="3320683"/>
            <a:ext cx="1123233" cy="818634"/>
          </a:xfrm>
          <a:prstGeom prst="quad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Left 41">
            <a:extLst>
              <a:ext uri="{FF2B5EF4-FFF2-40B4-BE49-F238E27FC236}">
                <a16:creationId xmlns:a16="http://schemas.microsoft.com/office/drawing/2014/main" id="{FF219183-EBD7-F39B-E629-13ED5F9C50B9}"/>
              </a:ext>
            </a:extLst>
          </p:cNvPr>
          <p:cNvSpPr/>
          <p:nvPr/>
        </p:nvSpPr>
        <p:spPr>
          <a:xfrm>
            <a:off x="2445688" y="4645301"/>
            <a:ext cx="1527014" cy="316606"/>
          </a:xfrm>
          <a:prstGeom prst="leftArrow">
            <a:avLst>
              <a:gd name="adj1" fmla="val 68554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3F4D029C-A7B2-C898-4CA5-40104AEDD7DF}"/>
              </a:ext>
            </a:extLst>
          </p:cNvPr>
          <p:cNvSpPr/>
          <p:nvPr/>
        </p:nvSpPr>
        <p:spPr>
          <a:xfrm>
            <a:off x="811951" y="3951309"/>
            <a:ext cx="209708" cy="4018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Left 43">
            <a:extLst>
              <a:ext uri="{FF2B5EF4-FFF2-40B4-BE49-F238E27FC236}">
                <a16:creationId xmlns:a16="http://schemas.microsoft.com/office/drawing/2014/main" id="{534BFB9C-3594-5E7E-CAE8-AA9D8F86665E}"/>
              </a:ext>
            </a:extLst>
          </p:cNvPr>
          <p:cNvSpPr/>
          <p:nvPr/>
        </p:nvSpPr>
        <p:spPr>
          <a:xfrm>
            <a:off x="1613446" y="3493231"/>
            <a:ext cx="593711" cy="3197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93E85000-2DA2-491A-C1A2-DE9387EA7135}"/>
              </a:ext>
            </a:extLst>
          </p:cNvPr>
          <p:cNvSpPr/>
          <p:nvPr/>
        </p:nvSpPr>
        <p:spPr>
          <a:xfrm>
            <a:off x="3411067" y="2549825"/>
            <a:ext cx="623457" cy="1913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7" name="Arrow: Left-Right-Up 46">
            <a:extLst>
              <a:ext uri="{FF2B5EF4-FFF2-40B4-BE49-F238E27FC236}">
                <a16:creationId xmlns:a16="http://schemas.microsoft.com/office/drawing/2014/main" id="{94C13D58-6041-D581-C34C-A6BD4EEAA4F6}"/>
              </a:ext>
            </a:extLst>
          </p:cNvPr>
          <p:cNvSpPr/>
          <p:nvPr/>
        </p:nvSpPr>
        <p:spPr>
          <a:xfrm rot="-5400000">
            <a:off x="6856913" y="3278293"/>
            <a:ext cx="857611" cy="560072"/>
          </a:xfrm>
          <a:prstGeom prst="leftRigh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75" y="11049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7255" y="9389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0" y="179499"/>
            <a:ext cx="91059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400"/>
            </a:pPr>
            <a:r>
              <a:rPr lang="en" sz="2400" b="1" dirty="0">
                <a:solidFill>
                  <a:schemeClr val="tx1"/>
                </a:solidFill>
              </a:rPr>
              <a:t>MODULE DESCRIPTION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4AAD2-0E8D-0901-511D-E6FAC4A7A104}"/>
              </a:ext>
            </a:extLst>
          </p:cNvPr>
          <p:cNvSpPr txBox="1"/>
          <p:nvPr/>
        </p:nvSpPr>
        <p:spPr>
          <a:xfrm>
            <a:off x="1284869" y="1137479"/>
            <a:ext cx="6810916" cy="3561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Employee Management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8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employee details (name, ID, department, salary structure).</a:t>
            </a:r>
          </a:p>
          <a:p>
            <a:pPr marL="171450" lvl="7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new hires, promotions, and terminations.</a:t>
            </a:r>
          </a:p>
          <a:p>
            <a:pPr lvl="7">
              <a:lnSpc>
                <a:spcPct val="15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Attendance &amp; Leave Tracking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employee working days, overtime, and leave requests.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with biometric or manual attendance systems.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Salary Computation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salary calculation based on attendance, deductions, and bonuses.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tax and insurance deductions as per regulations.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5715199F-16E2-1FC8-3DA7-5D4FA1491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>
            <a:extLst>
              <a:ext uri="{FF2B5EF4-FFF2-40B4-BE49-F238E27FC236}">
                <a16:creationId xmlns:a16="http://schemas.microsoft.com/office/drawing/2014/main" id="{F4827CF5-2108-96B7-4F14-303274A9A1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75" y="11049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>
            <a:extLst>
              <a:ext uri="{FF2B5EF4-FFF2-40B4-BE49-F238E27FC236}">
                <a16:creationId xmlns:a16="http://schemas.microsoft.com/office/drawing/2014/main" id="{51FA4AF7-F494-CC9F-B1F2-ACF2778ECC0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7255" y="9389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E2378384-79A2-5ED3-5679-D5A08631EDFD}"/>
              </a:ext>
            </a:extLst>
          </p:cNvPr>
          <p:cNvSpPr txBox="1"/>
          <p:nvPr/>
        </p:nvSpPr>
        <p:spPr>
          <a:xfrm>
            <a:off x="0" y="187056"/>
            <a:ext cx="91059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400"/>
            </a:pPr>
            <a:r>
              <a:rPr lang="en" sz="2400" b="1" dirty="0">
                <a:solidFill>
                  <a:schemeClr val="tx1"/>
                </a:solidFill>
              </a:rPr>
              <a:t>MODULE 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C2F8B7-DDB0-6A00-9624-23DFF840D42F}"/>
              </a:ext>
            </a:extLst>
          </p:cNvPr>
          <p:cNvSpPr txBox="1"/>
          <p:nvPr/>
        </p:nvSpPr>
        <p:spPr>
          <a:xfrm>
            <a:off x="1494265" y="1147535"/>
            <a:ext cx="661638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4.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 Slip Generation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digital and printable pay slips for employees.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payroll history for future reference.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Tax &amp; Compliance Management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applicable taxes and deductions for each employee.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compliance with government payroll regulations.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Report &amp; Analytics Module 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payroll summary reports for HR and management.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analytics on salary trends, overtime expenses, and employee costs</a:t>
            </a:r>
            <a:r>
              <a:rPr lang="en-US" sz="12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684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E023E529-B0C7-7C84-6DDB-EF987309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>
            <a:extLst>
              <a:ext uri="{FF2B5EF4-FFF2-40B4-BE49-F238E27FC236}">
                <a16:creationId xmlns:a16="http://schemas.microsoft.com/office/drawing/2014/main" id="{347E6D9B-578F-E220-AD7D-D1CEF3D30C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75" y="11049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>
            <a:extLst>
              <a:ext uri="{FF2B5EF4-FFF2-40B4-BE49-F238E27FC236}">
                <a16:creationId xmlns:a16="http://schemas.microsoft.com/office/drawing/2014/main" id="{69080636-2E7D-6990-8306-79758BC0C2B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7255" y="9389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57C6CDFC-DD93-50C9-2666-05F90DF12961}"/>
              </a:ext>
            </a:extLst>
          </p:cNvPr>
          <p:cNvSpPr txBox="1"/>
          <p:nvPr/>
        </p:nvSpPr>
        <p:spPr>
          <a:xfrm>
            <a:off x="0" y="179499"/>
            <a:ext cx="91059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400"/>
            </a:pPr>
            <a:r>
              <a:rPr lang="en" sz="2400" b="1" dirty="0">
                <a:solidFill>
                  <a:schemeClr val="tx1"/>
                </a:solidFill>
              </a:rPr>
              <a:t>SQL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9AA3E3-FC40-2C37-2AAA-23E2FAB07A01}"/>
              </a:ext>
            </a:extLst>
          </p:cNvPr>
          <p:cNvSpPr txBox="1"/>
          <p:nvPr/>
        </p:nvSpPr>
        <p:spPr>
          <a:xfrm>
            <a:off x="1442226" y="1117798"/>
            <a:ext cx="6616389" cy="347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/>
              <a:t>CREATE TABLE users ( id INT AUTO_INCREMENT PRIMARY KEY, username VARCHAR(50) NOT NULL UNIQUE, email VARCHAR(100), password VARCHAR(255) NOT NULL );</a:t>
            </a:r>
          </a:p>
          <a:p>
            <a:pPr>
              <a:lnSpc>
                <a:spcPct val="200000"/>
              </a:lnSpc>
            </a:pPr>
            <a:r>
              <a:rPr lang="en-US" dirty="0"/>
              <a:t>CREATE TABLE employees ( id INT AUTO_INCREMENT PRIMARY KEY, name VARCHAR(100), position VARCHAR(100), salary DECIMAL(10,2) );</a:t>
            </a:r>
            <a:endParaRPr lang="en-IN" dirty="0"/>
          </a:p>
          <a:p>
            <a:pPr>
              <a:lnSpc>
                <a:spcPct val="200000"/>
              </a:lnSpc>
            </a:pPr>
            <a:r>
              <a:rPr lang="en-US" dirty="0"/>
              <a:t>CREATE TABLE payroll ( id INT AUTO_INCREMENT PRIMARY KEY, </a:t>
            </a:r>
            <a:r>
              <a:rPr lang="en-US" dirty="0" err="1"/>
              <a:t>employee_id</a:t>
            </a:r>
            <a:r>
              <a:rPr lang="en-US" dirty="0"/>
              <a:t> INT, </a:t>
            </a:r>
            <a:r>
              <a:rPr lang="en-US" dirty="0" err="1"/>
              <a:t>pay_month</a:t>
            </a:r>
            <a:r>
              <a:rPr lang="en-US" dirty="0"/>
              <a:t> VARCHAR(20), amount DECIMAL(10,2), FOREIGN KEY (</a:t>
            </a:r>
            <a:r>
              <a:rPr lang="en-US" dirty="0" err="1"/>
              <a:t>employee_id</a:t>
            </a:r>
            <a:r>
              <a:rPr lang="en-US" dirty="0"/>
              <a:t>) REFERENCES employees(id) 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4472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D3FB5CA4-DE32-65BE-874B-45572AA4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>
            <a:extLst>
              <a:ext uri="{FF2B5EF4-FFF2-40B4-BE49-F238E27FC236}">
                <a16:creationId xmlns:a16="http://schemas.microsoft.com/office/drawing/2014/main" id="{CAC14D09-D239-5D7E-C57B-FD8165786D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75" y="11049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>
            <a:extLst>
              <a:ext uri="{FF2B5EF4-FFF2-40B4-BE49-F238E27FC236}">
                <a16:creationId xmlns:a16="http://schemas.microsoft.com/office/drawing/2014/main" id="{19E140BF-A709-9DDA-FE5C-E032EED096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7255" y="9389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0C0B5166-4FEA-928D-B502-80C430AE640B}"/>
              </a:ext>
            </a:extLst>
          </p:cNvPr>
          <p:cNvSpPr txBox="1"/>
          <p:nvPr/>
        </p:nvSpPr>
        <p:spPr>
          <a:xfrm>
            <a:off x="0" y="179499"/>
            <a:ext cx="91059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400"/>
            </a:pPr>
            <a:r>
              <a:rPr lang="en" sz="2400" b="1" dirty="0">
                <a:solidFill>
                  <a:schemeClr val="tx1"/>
                </a:solidFill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D5851-6B19-F889-FF74-C762320F7E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07"/>
          <a:stretch/>
        </p:blipFill>
        <p:spPr>
          <a:xfrm>
            <a:off x="1218341" y="1082039"/>
            <a:ext cx="6288315" cy="373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6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D4A848DE-A26E-97BC-5D8D-CA763DC57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>
            <a:extLst>
              <a:ext uri="{FF2B5EF4-FFF2-40B4-BE49-F238E27FC236}">
                <a16:creationId xmlns:a16="http://schemas.microsoft.com/office/drawing/2014/main" id="{EDA8F76D-6A7C-1897-E5E8-1EB3E7E118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75" y="11049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>
            <a:extLst>
              <a:ext uri="{FF2B5EF4-FFF2-40B4-BE49-F238E27FC236}">
                <a16:creationId xmlns:a16="http://schemas.microsoft.com/office/drawing/2014/main" id="{4C21AE42-EC44-CB38-287A-821476A346A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7255" y="9389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F1F89B01-12BB-FF03-9FEF-FFA1398DADDC}"/>
              </a:ext>
            </a:extLst>
          </p:cNvPr>
          <p:cNvSpPr txBox="1"/>
          <p:nvPr/>
        </p:nvSpPr>
        <p:spPr>
          <a:xfrm>
            <a:off x="0" y="179499"/>
            <a:ext cx="91059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400"/>
            </a:pPr>
            <a:r>
              <a:rPr lang="en" sz="2400" b="1" dirty="0">
                <a:solidFill>
                  <a:schemeClr val="tx1"/>
                </a:solidFill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F667DB-85A8-43A6-5FD1-D05D0FF6A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5420" y="789082"/>
            <a:ext cx="6722295" cy="384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915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F4BFE7DB-E004-AE8C-5A33-B2032973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>
            <a:extLst>
              <a:ext uri="{FF2B5EF4-FFF2-40B4-BE49-F238E27FC236}">
                <a16:creationId xmlns:a16="http://schemas.microsoft.com/office/drawing/2014/main" id="{88229316-7C39-73D5-523B-E888310C0A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75" y="11049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>
            <a:extLst>
              <a:ext uri="{FF2B5EF4-FFF2-40B4-BE49-F238E27FC236}">
                <a16:creationId xmlns:a16="http://schemas.microsoft.com/office/drawing/2014/main" id="{103763F8-D57A-1090-7F3F-44B02E06FF2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7255" y="9389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ADC35163-8B01-B3A7-A59E-07AD3C2DD4D0}"/>
              </a:ext>
            </a:extLst>
          </p:cNvPr>
          <p:cNvSpPr txBox="1"/>
          <p:nvPr/>
        </p:nvSpPr>
        <p:spPr>
          <a:xfrm>
            <a:off x="0" y="179499"/>
            <a:ext cx="91059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400"/>
            </a:pPr>
            <a:r>
              <a:rPr lang="en" sz="2400" b="1" dirty="0">
                <a:solidFill>
                  <a:schemeClr val="tx1"/>
                </a:solidFill>
              </a:rPr>
              <a:t>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D047-CA60-96AE-35BD-97D777B03F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941" y="1297082"/>
            <a:ext cx="6912964" cy="282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92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62CD97C3-596D-7B91-FBA9-A0F1D5259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>
            <a:extLst>
              <a:ext uri="{FF2B5EF4-FFF2-40B4-BE49-F238E27FC236}">
                <a16:creationId xmlns:a16="http://schemas.microsoft.com/office/drawing/2014/main" id="{345CE10E-51B6-C1D7-33E0-CC56A5305E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75" y="11049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>
            <a:extLst>
              <a:ext uri="{FF2B5EF4-FFF2-40B4-BE49-F238E27FC236}">
                <a16:creationId xmlns:a16="http://schemas.microsoft.com/office/drawing/2014/main" id="{8A0B20D6-28E6-E83B-E2A4-B632FB3C150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7255" y="9389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9DD56C4B-4F1E-4E29-7816-1BE9F65F330F}"/>
              </a:ext>
            </a:extLst>
          </p:cNvPr>
          <p:cNvSpPr txBox="1"/>
          <p:nvPr/>
        </p:nvSpPr>
        <p:spPr>
          <a:xfrm>
            <a:off x="0" y="179499"/>
            <a:ext cx="91059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400"/>
            </a:pPr>
            <a:r>
              <a:rPr lang="en" sz="2400" b="1" dirty="0">
                <a:solidFill>
                  <a:schemeClr val="tx1"/>
                </a:solidFill>
              </a:rPr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16049E-3EF7-0670-30BB-C2F1100FD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9417" y="889487"/>
            <a:ext cx="5125165" cy="1762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AAA38D-1C24-6592-71E4-DE952A3D1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1815" y="2901726"/>
            <a:ext cx="4982270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193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/>
        </p:nvSpPr>
        <p:spPr>
          <a:xfrm>
            <a:off x="38100" y="1835250"/>
            <a:ext cx="9067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chemeClr val="dk1"/>
                </a:solidFill>
              </a:rPr>
              <a:t>THANK YOU</a:t>
            </a:r>
            <a:endParaRPr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</TotalTime>
  <Words>547</Words>
  <Application>Microsoft Office PowerPoint</Application>
  <PresentationFormat>On-screen Show (16:9)</PresentationFormat>
  <Paragraphs>90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Narrow</vt:lpstr>
      <vt:lpstr>Calibri</vt:lpstr>
      <vt:lpstr>Times New Roman</vt:lpstr>
      <vt:lpstr>Simple Light</vt:lpstr>
      <vt:lpstr>PowerPoint Presentation</vt:lpstr>
      <vt:lpstr>PowerPoint Presentation</vt:lpstr>
      <vt:lpstr>PROJECT DESCRIPTION AND ANALYSIS</vt:lpstr>
      <vt:lpstr>PowerPoint Presentation</vt:lpstr>
      <vt:lpstr>   ARCHITECTURE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VIJESH S S</dc:creator>
  <cp:lastModifiedBy>Neha Henin</cp:lastModifiedBy>
  <cp:revision>32</cp:revision>
  <dcterms:modified xsi:type="dcterms:W3CDTF">2025-05-29T08:43:01Z</dcterms:modified>
</cp:coreProperties>
</file>